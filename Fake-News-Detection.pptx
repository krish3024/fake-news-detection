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Montserrat" panose="020B0604020202020204" charset="0"/>
      <p:regular r:id="rId15"/>
    </p:embeddedFont>
    <p:embeddedFont>
      <p:font typeface="Source Sans Pro" panose="020B0503030403020204" pitchFamily="34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52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1621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31505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2236470"/>
            <a:ext cx="7415927" cy="1935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7600"/>
              </a:lnSpc>
              <a:buNone/>
            </a:pPr>
            <a:r>
              <a:rPr lang="en-US" sz="6050" b="1" kern="0" spc="-6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Fake News Detection</a:t>
            </a:r>
            <a:endParaRPr lang="en-US" sz="6050" dirty="0"/>
          </a:p>
        </p:txBody>
      </p:sp>
      <p:sp>
        <p:nvSpPr>
          <p:cNvPr id="4" name="Text 1"/>
          <p:cNvSpPr/>
          <p:nvPr/>
        </p:nvSpPr>
        <p:spPr>
          <a:xfrm>
            <a:off x="864037" y="4542711"/>
            <a:ext cx="7415927" cy="740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This presentation explores the problem of fake news, its impact, and a machine learning-based solution for detection.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1382316" y="5561171"/>
            <a:ext cx="1854756" cy="431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by Krish Sahu 22BLC1171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6583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9116" y="286583"/>
            <a:ext cx="4012168" cy="22926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85029" y="3829645"/>
            <a:ext cx="5408176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100"/>
              </a:lnSpc>
              <a:buNone/>
            </a:pPr>
            <a:r>
              <a:rPr lang="en-US" sz="4100" b="1" kern="0" spc="-4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Fake News?</a:t>
            </a:r>
            <a:endParaRPr lang="en-US" sz="4100" dirty="0"/>
          </a:p>
        </p:txBody>
      </p:sp>
      <p:sp>
        <p:nvSpPr>
          <p:cNvPr id="5" name="Shape 1"/>
          <p:cNvSpPr/>
          <p:nvPr/>
        </p:nvSpPr>
        <p:spPr>
          <a:xfrm>
            <a:off x="1185029" y="5082659"/>
            <a:ext cx="515779" cy="515779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</p:sp>
      <p:sp>
        <p:nvSpPr>
          <p:cNvPr id="6" name="Text 2"/>
          <p:cNvSpPr/>
          <p:nvPr/>
        </p:nvSpPr>
        <p:spPr>
          <a:xfrm>
            <a:off x="1383149" y="5184219"/>
            <a:ext cx="119420" cy="312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kern="0" spc="-25" dirty="0">
                <a:solidFill>
                  <a:srgbClr val="E2E6E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450" dirty="0"/>
          </a:p>
        </p:txBody>
      </p:sp>
      <p:sp>
        <p:nvSpPr>
          <p:cNvPr id="7" name="Text 3"/>
          <p:cNvSpPr/>
          <p:nvPr/>
        </p:nvSpPr>
        <p:spPr>
          <a:xfrm>
            <a:off x="1930003" y="5082659"/>
            <a:ext cx="2937510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2050" b="1" kern="0" spc="-21" dirty="0">
                <a:solidFill>
                  <a:srgbClr val="E2E6E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Intentional Deception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1930003" y="5545812"/>
            <a:ext cx="3188970" cy="1719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Fake news refers to intentionally false or misleading information spread via news outlets and social media, designed to deceive or manipulate.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5348168" y="5082659"/>
            <a:ext cx="515779" cy="515779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</p:sp>
      <p:sp>
        <p:nvSpPr>
          <p:cNvPr id="10" name="Text 6"/>
          <p:cNvSpPr/>
          <p:nvPr/>
        </p:nvSpPr>
        <p:spPr>
          <a:xfrm>
            <a:off x="5515332" y="5184219"/>
            <a:ext cx="181332" cy="312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kern="0" spc="-25" dirty="0">
                <a:solidFill>
                  <a:srgbClr val="E2E6E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450" dirty="0"/>
          </a:p>
        </p:txBody>
      </p:sp>
      <p:sp>
        <p:nvSpPr>
          <p:cNvPr id="11" name="Text 7"/>
          <p:cNvSpPr/>
          <p:nvPr/>
        </p:nvSpPr>
        <p:spPr>
          <a:xfrm>
            <a:off x="6093143" y="5082659"/>
            <a:ext cx="2605207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2050" b="1" kern="0" spc="-21" dirty="0">
                <a:solidFill>
                  <a:srgbClr val="E2E6E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Distorting Facts</a:t>
            </a:r>
            <a:endParaRPr lang="en-US" sz="2050" dirty="0"/>
          </a:p>
        </p:txBody>
      </p:sp>
      <p:sp>
        <p:nvSpPr>
          <p:cNvPr id="12" name="Text 8"/>
          <p:cNvSpPr/>
          <p:nvPr/>
        </p:nvSpPr>
        <p:spPr>
          <a:xfrm>
            <a:off x="6093143" y="5545812"/>
            <a:ext cx="3188970" cy="1031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It creates confusion and distorts facts, influencing public opinion and decision-making.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9511308" y="5082659"/>
            <a:ext cx="515779" cy="515779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</p:sp>
      <p:sp>
        <p:nvSpPr>
          <p:cNvPr id="14" name="Text 10"/>
          <p:cNvSpPr/>
          <p:nvPr/>
        </p:nvSpPr>
        <p:spPr>
          <a:xfrm>
            <a:off x="9678233" y="5184219"/>
            <a:ext cx="181928" cy="312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kern="0" spc="-25" dirty="0">
                <a:solidFill>
                  <a:srgbClr val="E2E6E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450" dirty="0"/>
          </a:p>
        </p:txBody>
      </p:sp>
      <p:sp>
        <p:nvSpPr>
          <p:cNvPr id="15" name="Text 11"/>
          <p:cNvSpPr/>
          <p:nvPr/>
        </p:nvSpPr>
        <p:spPr>
          <a:xfrm>
            <a:off x="10256282" y="5082659"/>
            <a:ext cx="3188970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2050" b="1" kern="0" spc="-21" dirty="0">
                <a:solidFill>
                  <a:srgbClr val="E2E6E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Real-World Consequences</a:t>
            </a:r>
            <a:endParaRPr lang="en-US" sz="2050" dirty="0"/>
          </a:p>
        </p:txBody>
      </p:sp>
      <p:sp>
        <p:nvSpPr>
          <p:cNvPr id="16" name="Text 12"/>
          <p:cNvSpPr/>
          <p:nvPr/>
        </p:nvSpPr>
        <p:spPr>
          <a:xfrm>
            <a:off x="10256282" y="5871448"/>
            <a:ext cx="3188970" cy="137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Fake news can lead to serious real-world consequences, including political and social instability.</a:t>
            </a:r>
            <a:endParaRPr lang="en-US" sz="18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87CCBD9-0A20-4B8C-B933-1E7987B6DD17}"/>
              </a:ext>
            </a:extLst>
          </p:cNvPr>
          <p:cNvSpPr/>
          <p:nvPr/>
        </p:nvSpPr>
        <p:spPr>
          <a:xfrm>
            <a:off x="12788900" y="7670800"/>
            <a:ext cx="1739900" cy="4699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10" y="2353747"/>
            <a:ext cx="4869061" cy="35219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350437" y="1722358"/>
            <a:ext cx="5611058" cy="701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b="1" kern="0" spc="-44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Definition</a:t>
            </a:r>
            <a:endParaRPr lang="en-US" sz="4400" dirty="0"/>
          </a:p>
        </p:txBody>
      </p:sp>
      <p:sp>
        <p:nvSpPr>
          <p:cNvPr id="5" name="Shape 1"/>
          <p:cNvSpPr/>
          <p:nvPr/>
        </p:nvSpPr>
        <p:spPr>
          <a:xfrm>
            <a:off x="6350437" y="2794040"/>
            <a:ext cx="7415927" cy="1733193"/>
          </a:xfrm>
          <a:prstGeom prst="roundRect">
            <a:avLst>
              <a:gd name="adj" fmla="val 2137"/>
            </a:avLst>
          </a:prstGeom>
          <a:solidFill>
            <a:srgbClr val="303132"/>
          </a:solidFill>
          <a:ln/>
        </p:spPr>
      </p:sp>
      <p:sp>
        <p:nvSpPr>
          <p:cNvPr id="6" name="Text 2"/>
          <p:cNvSpPr/>
          <p:nvPr/>
        </p:nvSpPr>
        <p:spPr>
          <a:xfrm>
            <a:off x="6597253" y="3040856"/>
            <a:ext cx="2805470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E2E6E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6597253" y="3539609"/>
            <a:ext cx="6922294" cy="740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Identifying fake news is a critical challenge due to the subtle differences between real and fake news.</a:t>
            </a:r>
            <a:endParaRPr lang="en-US" sz="1900" dirty="0"/>
          </a:p>
        </p:txBody>
      </p:sp>
      <p:sp>
        <p:nvSpPr>
          <p:cNvPr id="8" name="Shape 4"/>
          <p:cNvSpPr/>
          <p:nvPr/>
        </p:nvSpPr>
        <p:spPr>
          <a:xfrm>
            <a:off x="6350437" y="4774049"/>
            <a:ext cx="7415927" cy="1733193"/>
          </a:xfrm>
          <a:prstGeom prst="roundRect">
            <a:avLst>
              <a:gd name="adj" fmla="val 2137"/>
            </a:avLst>
          </a:prstGeom>
          <a:solidFill>
            <a:srgbClr val="303132"/>
          </a:solidFill>
          <a:ln/>
        </p:spPr>
      </p:sp>
      <p:sp>
        <p:nvSpPr>
          <p:cNvPr id="9" name="Text 5"/>
          <p:cNvSpPr/>
          <p:nvPr/>
        </p:nvSpPr>
        <p:spPr>
          <a:xfrm>
            <a:off x="6597253" y="5020866"/>
            <a:ext cx="2805470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E2E6E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6597253" y="5519618"/>
            <a:ext cx="6922294" cy="740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Develop a machine learning-based fake news detector that automatically classifies news articles as either "Real" or "Fake."</a:t>
            </a:r>
            <a:endParaRPr lang="en-US" sz="19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2F9C93-FA9B-4040-BEE2-F69F2AD8DF38}"/>
              </a:ext>
            </a:extLst>
          </p:cNvPr>
          <p:cNvSpPr/>
          <p:nvPr/>
        </p:nvSpPr>
        <p:spPr>
          <a:xfrm>
            <a:off x="12788900" y="7670800"/>
            <a:ext cx="1739900" cy="4699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5029" y="2490073"/>
            <a:ext cx="8299252" cy="701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b="1" kern="0" spc="-44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Types of Fake News Patterns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185029" y="3808571"/>
            <a:ext cx="2805470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Sensationalism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5029" y="4406027"/>
            <a:ext cx="3684746" cy="740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Use of exaggerated, emotional language to provoke reactions.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79613" y="3808571"/>
            <a:ext cx="2805470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Lack of Sources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79613" y="4406027"/>
            <a:ext cx="3684746" cy="740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Fake news often lacks credible sources or proper citations.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774198" y="3808571"/>
            <a:ext cx="2805470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kern="0" spc="-2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Clickbait Headlines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774198" y="4406027"/>
            <a:ext cx="3684746" cy="1111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Catchy headlines designed to attract clicks, but misleading in nature.</a:t>
            </a:r>
            <a:endParaRPr lang="en-US" sz="19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4804E8-B039-4C9C-842E-65960DF755E5}"/>
              </a:ext>
            </a:extLst>
          </p:cNvPr>
          <p:cNvSpPr/>
          <p:nvPr/>
        </p:nvSpPr>
        <p:spPr>
          <a:xfrm>
            <a:off x="12788900" y="7670800"/>
            <a:ext cx="1739900" cy="4699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391" y="2210753"/>
            <a:ext cx="4945499" cy="380809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43518" y="607933"/>
            <a:ext cx="4917043" cy="614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800"/>
              </a:lnSpc>
              <a:buNone/>
            </a:pPr>
            <a:r>
              <a:rPr lang="en-US" sz="3850" b="1" kern="0" spc="-39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Methodology</a:t>
            </a:r>
            <a:endParaRPr lang="en-US" sz="3850" dirty="0"/>
          </a:p>
        </p:txBody>
      </p:sp>
      <p:sp>
        <p:nvSpPr>
          <p:cNvPr id="5" name="Shape 1"/>
          <p:cNvSpPr/>
          <p:nvPr/>
        </p:nvSpPr>
        <p:spPr>
          <a:xfrm>
            <a:off x="6552724" y="1546979"/>
            <a:ext cx="30480" cy="6074688"/>
          </a:xfrm>
          <a:prstGeom prst="roundRect">
            <a:avLst>
              <a:gd name="adj" fmla="val 106473"/>
            </a:avLst>
          </a:prstGeom>
          <a:solidFill>
            <a:srgbClr val="494A4B"/>
          </a:solidFill>
          <a:ln/>
        </p:spPr>
      </p:sp>
      <p:sp>
        <p:nvSpPr>
          <p:cNvPr id="6" name="Shape 2"/>
          <p:cNvSpPr/>
          <p:nvPr/>
        </p:nvSpPr>
        <p:spPr>
          <a:xfrm>
            <a:off x="6780848" y="2018467"/>
            <a:ext cx="757118" cy="30480"/>
          </a:xfrm>
          <a:prstGeom prst="roundRect">
            <a:avLst>
              <a:gd name="adj" fmla="val 106473"/>
            </a:avLst>
          </a:prstGeom>
          <a:solidFill>
            <a:srgbClr val="494A4B"/>
          </a:solidFill>
          <a:ln/>
        </p:spPr>
      </p:sp>
      <p:sp>
        <p:nvSpPr>
          <p:cNvPr id="7" name="Shape 3"/>
          <p:cNvSpPr/>
          <p:nvPr/>
        </p:nvSpPr>
        <p:spPr>
          <a:xfrm>
            <a:off x="6324600" y="1790343"/>
            <a:ext cx="486727" cy="486728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</p:sp>
      <p:sp>
        <p:nvSpPr>
          <p:cNvPr id="8" name="Text 4"/>
          <p:cNvSpPr/>
          <p:nvPr/>
        </p:nvSpPr>
        <p:spPr>
          <a:xfrm>
            <a:off x="6511528" y="1886188"/>
            <a:ext cx="112752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kern="0" spc="-23" dirty="0">
                <a:solidFill>
                  <a:srgbClr val="E2E6E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7757874" y="1763316"/>
            <a:ext cx="2458522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kern="0" spc="-19" dirty="0">
                <a:solidFill>
                  <a:srgbClr val="E2E6E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 Collection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7757874" y="2200394"/>
            <a:ext cx="6115407" cy="324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Gather large amounts of news articles from various sources.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6780848" y="3429000"/>
            <a:ext cx="757118" cy="30480"/>
          </a:xfrm>
          <a:prstGeom prst="roundRect">
            <a:avLst>
              <a:gd name="adj" fmla="val 106473"/>
            </a:avLst>
          </a:prstGeom>
          <a:solidFill>
            <a:srgbClr val="494A4B"/>
          </a:solidFill>
          <a:ln/>
        </p:spPr>
      </p:sp>
      <p:sp>
        <p:nvSpPr>
          <p:cNvPr id="12" name="Shape 8"/>
          <p:cNvSpPr/>
          <p:nvPr/>
        </p:nvSpPr>
        <p:spPr>
          <a:xfrm>
            <a:off x="6324600" y="3200876"/>
            <a:ext cx="486727" cy="486728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</p:sp>
      <p:sp>
        <p:nvSpPr>
          <p:cNvPr id="13" name="Text 9"/>
          <p:cNvSpPr/>
          <p:nvPr/>
        </p:nvSpPr>
        <p:spPr>
          <a:xfrm>
            <a:off x="6482358" y="3296722"/>
            <a:ext cx="171093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kern="0" spc="-23" dirty="0">
                <a:solidFill>
                  <a:srgbClr val="E2E6E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300" dirty="0"/>
          </a:p>
        </p:txBody>
      </p:sp>
      <p:sp>
        <p:nvSpPr>
          <p:cNvPr id="14" name="Text 10"/>
          <p:cNvSpPr/>
          <p:nvPr/>
        </p:nvSpPr>
        <p:spPr>
          <a:xfrm>
            <a:off x="7757874" y="3173849"/>
            <a:ext cx="2458522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kern="0" spc="-19" dirty="0">
                <a:solidFill>
                  <a:srgbClr val="E2E6E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 Processing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7757874" y="3610928"/>
            <a:ext cx="6115407" cy="324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Preprocess the text to make it suitable for machine learning models.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6780848" y="4839533"/>
            <a:ext cx="757118" cy="30480"/>
          </a:xfrm>
          <a:prstGeom prst="roundRect">
            <a:avLst>
              <a:gd name="adj" fmla="val 106473"/>
            </a:avLst>
          </a:prstGeom>
          <a:solidFill>
            <a:srgbClr val="494A4B"/>
          </a:solidFill>
          <a:ln/>
        </p:spPr>
      </p:sp>
      <p:sp>
        <p:nvSpPr>
          <p:cNvPr id="17" name="Shape 13"/>
          <p:cNvSpPr/>
          <p:nvPr/>
        </p:nvSpPr>
        <p:spPr>
          <a:xfrm>
            <a:off x="6324600" y="4611410"/>
            <a:ext cx="486727" cy="486728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</p:sp>
      <p:sp>
        <p:nvSpPr>
          <p:cNvPr id="18" name="Text 14"/>
          <p:cNvSpPr/>
          <p:nvPr/>
        </p:nvSpPr>
        <p:spPr>
          <a:xfrm>
            <a:off x="6482120" y="4707255"/>
            <a:ext cx="171688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kern="0" spc="-23" dirty="0">
                <a:solidFill>
                  <a:srgbClr val="E2E6E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5"/>
          <p:cNvSpPr/>
          <p:nvPr/>
        </p:nvSpPr>
        <p:spPr>
          <a:xfrm>
            <a:off x="7757874" y="4584383"/>
            <a:ext cx="2458522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kern="0" spc="-19" dirty="0">
                <a:solidFill>
                  <a:srgbClr val="E2E6E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 Extraction</a:t>
            </a:r>
            <a:endParaRPr lang="en-US" sz="1900" dirty="0"/>
          </a:p>
        </p:txBody>
      </p:sp>
      <p:sp>
        <p:nvSpPr>
          <p:cNvPr id="20" name="Text 16"/>
          <p:cNvSpPr/>
          <p:nvPr/>
        </p:nvSpPr>
        <p:spPr>
          <a:xfrm>
            <a:off x="7757874" y="5021461"/>
            <a:ext cx="6115407" cy="648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Extract relevant features from the text using techniques like Bag of Words (BoW), TF-IDF, or Word Embeddings.</a:t>
            </a:r>
            <a:endParaRPr lang="en-US" sz="1700" dirty="0"/>
          </a:p>
        </p:txBody>
      </p:sp>
      <p:sp>
        <p:nvSpPr>
          <p:cNvPr id="21" name="Shape 17"/>
          <p:cNvSpPr/>
          <p:nvPr/>
        </p:nvSpPr>
        <p:spPr>
          <a:xfrm>
            <a:off x="6780848" y="6574512"/>
            <a:ext cx="757118" cy="30480"/>
          </a:xfrm>
          <a:prstGeom prst="roundRect">
            <a:avLst>
              <a:gd name="adj" fmla="val 106473"/>
            </a:avLst>
          </a:prstGeom>
          <a:solidFill>
            <a:srgbClr val="494A4B"/>
          </a:solidFill>
          <a:ln/>
        </p:spPr>
      </p:sp>
      <p:sp>
        <p:nvSpPr>
          <p:cNvPr id="22" name="Shape 18"/>
          <p:cNvSpPr/>
          <p:nvPr/>
        </p:nvSpPr>
        <p:spPr>
          <a:xfrm>
            <a:off x="6324600" y="6346388"/>
            <a:ext cx="486727" cy="486728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</p:sp>
      <p:sp>
        <p:nvSpPr>
          <p:cNvPr id="23" name="Text 19"/>
          <p:cNvSpPr/>
          <p:nvPr/>
        </p:nvSpPr>
        <p:spPr>
          <a:xfrm>
            <a:off x="6467832" y="6442234"/>
            <a:ext cx="200263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kern="0" spc="-23" dirty="0">
                <a:solidFill>
                  <a:srgbClr val="E2E6E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300" dirty="0"/>
          </a:p>
        </p:txBody>
      </p:sp>
      <p:sp>
        <p:nvSpPr>
          <p:cNvPr id="24" name="Text 20"/>
          <p:cNvSpPr/>
          <p:nvPr/>
        </p:nvSpPr>
        <p:spPr>
          <a:xfrm>
            <a:off x="7757874" y="6319361"/>
            <a:ext cx="2458522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kern="0" spc="-19" dirty="0">
                <a:solidFill>
                  <a:srgbClr val="E2E6E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Modeling</a:t>
            </a:r>
            <a:endParaRPr lang="en-US" sz="1900" dirty="0"/>
          </a:p>
        </p:txBody>
      </p:sp>
      <p:sp>
        <p:nvSpPr>
          <p:cNvPr id="25" name="Text 21"/>
          <p:cNvSpPr/>
          <p:nvPr/>
        </p:nvSpPr>
        <p:spPr>
          <a:xfrm>
            <a:off x="7757874" y="6756440"/>
            <a:ext cx="6115407" cy="648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Train machine learning algorithms (e.g., Logistic Regression, Naive Bayes) to classify articles.</a:t>
            </a:r>
            <a:endParaRPr lang="en-US" sz="17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20FC272-C3A3-424A-9905-05F97C2A164E}"/>
              </a:ext>
            </a:extLst>
          </p:cNvPr>
          <p:cNvSpPr/>
          <p:nvPr/>
        </p:nvSpPr>
        <p:spPr>
          <a:xfrm>
            <a:off x="12788900" y="7670800"/>
            <a:ext cx="1739900" cy="4699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10" y="1536144"/>
            <a:ext cx="4869061" cy="51571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350437" y="1614845"/>
            <a:ext cx="5611058" cy="701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b="1" kern="0" spc="-44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 Collection</a:t>
            </a:r>
            <a:endParaRPr lang="en-US" sz="4400" dirty="0"/>
          </a:p>
        </p:txBody>
      </p:sp>
      <p:sp>
        <p:nvSpPr>
          <p:cNvPr id="5" name="Shape 1"/>
          <p:cNvSpPr/>
          <p:nvPr/>
        </p:nvSpPr>
        <p:spPr>
          <a:xfrm>
            <a:off x="6350437" y="2686526"/>
            <a:ext cx="7415927" cy="3928110"/>
          </a:xfrm>
          <a:prstGeom prst="roundRect">
            <a:avLst>
              <a:gd name="adj" fmla="val 943"/>
            </a:avLst>
          </a:prstGeom>
          <a:noFill/>
          <a:ln w="1524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6365677" y="2701766"/>
            <a:ext cx="7385447" cy="179308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6612493" y="2857500"/>
            <a:ext cx="3195280" cy="370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Data Sources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10309027" y="2857500"/>
            <a:ext cx="3195280" cy="1481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News articles collected from various news platforms, using datasets like Kaggle’s Fake News dataset.</a:t>
            </a:r>
            <a:endParaRPr lang="en-US" sz="1900" dirty="0"/>
          </a:p>
        </p:txBody>
      </p:sp>
      <p:sp>
        <p:nvSpPr>
          <p:cNvPr id="9" name="Shape 5"/>
          <p:cNvSpPr/>
          <p:nvPr/>
        </p:nvSpPr>
        <p:spPr>
          <a:xfrm>
            <a:off x="6365677" y="4494848"/>
            <a:ext cx="7385447" cy="105227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6612493" y="4650581"/>
            <a:ext cx="3195280" cy="370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Features Collected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10309027" y="4650581"/>
            <a:ext cx="3195280" cy="740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Title, Author (optional), Main Text.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6365677" y="5547122"/>
            <a:ext cx="7385447" cy="105227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6612493" y="5702856"/>
            <a:ext cx="3195280" cy="370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Challenges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10309027" y="5702856"/>
            <a:ext cx="3195280" cy="740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Handling missing data, ensuring a balanced dataset.</a:t>
            </a:r>
            <a:endParaRPr lang="en-US" sz="19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78D518-98A4-4B10-A670-B42785F2489B}"/>
              </a:ext>
            </a:extLst>
          </p:cNvPr>
          <p:cNvSpPr/>
          <p:nvPr/>
        </p:nvSpPr>
        <p:spPr>
          <a:xfrm>
            <a:off x="12788900" y="7670800"/>
            <a:ext cx="1739900" cy="4699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150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194" y="1888331"/>
            <a:ext cx="5047893" cy="445484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4005" y="482441"/>
            <a:ext cx="4013002" cy="498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900"/>
              </a:lnSpc>
              <a:buNone/>
            </a:pPr>
            <a:r>
              <a:rPr lang="en-US" sz="3100" b="1" kern="0" spc="-3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 and Analysis</a:t>
            </a:r>
            <a:endParaRPr lang="en-US" sz="31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005" y="1243965"/>
            <a:ext cx="438507" cy="438507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14005" y="1857851"/>
            <a:ext cx="1993702" cy="249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kern="0" spc="-16" dirty="0">
                <a:solidFill>
                  <a:srgbClr val="E2E6E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Accuracy</a:t>
            </a:r>
            <a:endParaRPr lang="en-US" sz="1550" dirty="0"/>
          </a:p>
        </p:txBody>
      </p:sp>
      <p:sp>
        <p:nvSpPr>
          <p:cNvPr id="7" name="Text 2"/>
          <p:cNvSpPr/>
          <p:nvPr/>
        </p:nvSpPr>
        <p:spPr>
          <a:xfrm>
            <a:off x="614005" y="2212300"/>
            <a:ext cx="7915989" cy="26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Percentage of correctly classified articles (real or fake).</a:t>
            </a:r>
            <a:endParaRPr lang="en-US" sz="13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005" y="3001804"/>
            <a:ext cx="438507" cy="438507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14005" y="3615690"/>
            <a:ext cx="1993702" cy="249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kern="0" spc="-16" dirty="0">
                <a:solidFill>
                  <a:srgbClr val="E2E6E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Precision</a:t>
            </a:r>
            <a:endParaRPr lang="en-US" sz="1550" dirty="0"/>
          </a:p>
        </p:txBody>
      </p:sp>
      <p:sp>
        <p:nvSpPr>
          <p:cNvPr id="10" name="Text 4"/>
          <p:cNvSpPr/>
          <p:nvPr/>
        </p:nvSpPr>
        <p:spPr>
          <a:xfrm>
            <a:off x="614005" y="3970139"/>
            <a:ext cx="7915989" cy="26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Proportion of true positive predictions out of all predicted positives.</a:t>
            </a:r>
            <a:endParaRPr lang="en-US" sz="13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005" y="4759643"/>
            <a:ext cx="438507" cy="438507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14005" y="5373529"/>
            <a:ext cx="1993702" cy="249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kern="0" spc="-16" dirty="0">
                <a:solidFill>
                  <a:srgbClr val="E2E6E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Recall</a:t>
            </a:r>
            <a:endParaRPr lang="en-US" sz="1550" dirty="0"/>
          </a:p>
        </p:txBody>
      </p:sp>
      <p:sp>
        <p:nvSpPr>
          <p:cNvPr id="13" name="Text 6"/>
          <p:cNvSpPr/>
          <p:nvPr/>
        </p:nvSpPr>
        <p:spPr>
          <a:xfrm>
            <a:off x="614005" y="5727978"/>
            <a:ext cx="7915989" cy="26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Proportion of true positive predictions out of all actual positive cases.</a:t>
            </a:r>
            <a:endParaRPr lang="en-US" sz="13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005" y="6517481"/>
            <a:ext cx="438507" cy="438507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14005" y="7131368"/>
            <a:ext cx="1993702" cy="249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kern="0" spc="-16" dirty="0">
                <a:solidFill>
                  <a:srgbClr val="E2E6E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F1-Score</a:t>
            </a:r>
            <a:endParaRPr lang="en-US" sz="1550" dirty="0"/>
          </a:p>
        </p:txBody>
      </p:sp>
      <p:sp>
        <p:nvSpPr>
          <p:cNvPr id="16" name="Text 8"/>
          <p:cNvSpPr/>
          <p:nvPr/>
        </p:nvSpPr>
        <p:spPr>
          <a:xfrm>
            <a:off x="614005" y="7485817"/>
            <a:ext cx="7915989" cy="26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harmonic mean of precision and recall, providing a balanced measure.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179" y="2309574"/>
            <a:ext cx="4911923" cy="36103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90667" y="798671"/>
            <a:ext cx="7408664" cy="652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100"/>
              </a:lnSpc>
              <a:buNone/>
            </a:pPr>
            <a:r>
              <a:rPr lang="en-US" sz="4100" b="1" kern="0" spc="-4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Implementation and Result</a:t>
            </a:r>
            <a:endParaRPr lang="en-US" sz="41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0667" y="1796177"/>
            <a:ext cx="1148953" cy="183844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784306" y="2025968"/>
            <a:ext cx="2611517" cy="326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kern="0" spc="-21" dirty="0">
                <a:solidFill>
                  <a:srgbClr val="E2E6E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Implementation</a:t>
            </a:r>
            <a:endParaRPr lang="en-US" sz="2050" dirty="0"/>
          </a:p>
        </p:txBody>
      </p:sp>
      <p:sp>
        <p:nvSpPr>
          <p:cNvPr id="7" name="Text 2"/>
          <p:cNvSpPr/>
          <p:nvPr/>
        </p:nvSpPr>
        <p:spPr>
          <a:xfrm>
            <a:off x="7784306" y="2490192"/>
            <a:ext cx="6041827" cy="689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Used Python with Google-Collab for building machine learning models.</a:t>
            </a:r>
            <a:endParaRPr lang="en-US" sz="18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0667" y="3634621"/>
            <a:ext cx="1148953" cy="183844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784306" y="3864412"/>
            <a:ext cx="2611517" cy="326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kern="0" spc="-21" dirty="0">
                <a:solidFill>
                  <a:srgbClr val="E2E6E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Used</a:t>
            </a:r>
            <a:endParaRPr lang="en-US" sz="2050" dirty="0"/>
          </a:p>
        </p:txBody>
      </p:sp>
      <p:sp>
        <p:nvSpPr>
          <p:cNvPr id="10" name="Text 4"/>
          <p:cNvSpPr/>
          <p:nvPr/>
        </p:nvSpPr>
        <p:spPr>
          <a:xfrm>
            <a:off x="7784306" y="4328636"/>
            <a:ext cx="6041827" cy="689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[Best Performing Model Name, e.g., Logistic Regression, Random Forest, etc.]</a:t>
            </a:r>
            <a:endParaRPr lang="en-US" sz="18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0667" y="5473065"/>
            <a:ext cx="1148953" cy="1957864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784306" y="5702856"/>
            <a:ext cx="2611517" cy="326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kern="0" spc="-21" dirty="0">
                <a:solidFill>
                  <a:srgbClr val="E2E6E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</a:t>
            </a:r>
            <a:endParaRPr lang="en-US" sz="2050" dirty="0"/>
          </a:p>
        </p:txBody>
      </p:sp>
      <p:sp>
        <p:nvSpPr>
          <p:cNvPr id="13" name="Text 6"/>
          <p:cNvSpPr/>
          <p:nvPr/>
        </p:nvSpPr>
        <p:spPr>
          <a:xfrm>
            <a:off x="7784306" y="6167080"/>
            <a:ext cx="6041827" cy="103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model will be able to classify fake news with high accuracy, showing robust performance in distinguishing between real and fake articles.</a:t>
            </a:r>
            <a:endParaRPr lang="en-US" sz="18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5BF606-3B23-4C8D-B2D1-78BFB2B80479}"/>
              </a:ext>
            </a:extLst>
          </p:cNvPr>
          <p:cNvSpPr/>
          <p:nvPr/>
        </p:nvSpPr>
        <p:spPr>
          <a:xfrm>
            <a:off x="12788900" y="7670800"/>
            <a:ext cx="1739900" cy="4699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413</Words>
  <Application>Microsoft Office PowerPoint</Application>
  <PresentationFormat>Custom</PresentationFormat>
  <Paragraphs>69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Source Sans Pro</vt:lpstr>
      <vt:lpstr>Montserrat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Krish Sahu</cp:lastModifiedBy>
  <cp:revision>2</cp:revision>
  <dcterms:created xsi:type="dcterms:W3CDTF">2024-09-05T08:13:53Z</dcterms:created>
  <dcterms:modified xsi:type="dcterms:W3CDTF">2024-09-05T08:16:50Z</dcterms:modified>
</cp:coreProperties>
</file>